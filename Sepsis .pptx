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</a:rPr>
              <a:t>20CS8504 &amp; PROJECT WORK</a:t>
            </a:r>
            <a:endParaRPr b="1" dirty="0">
              <a:latin typeface="Arial Narrow"/>
              <a:sym typeface="Arial Narrow"/>
            </a:endParaRPr>
          </a:p>
          <a:p>
            <a:pPr marL="0" lvl="0" indent="0" algn="ctr">
              <a:buSzPts val="28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 </a:t>
            </a:r>
          </a:p>
          <a:p>
            <a:pPr marL="0" lvl="0" indent="0" algn="ctr">
              <a:buSzPts val="2800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SzPts val="28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 17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25/03/26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538686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SzPts val="3600"/>
              <a:buNone/>
            </a:pPr>
            <a:r>
              <a:rPr lang="en-US" sz="4400" b="1" dirty="0">
                <a:latin typeface="Arial Narrow" panose="020B0606020202030204" pitchFamily="34" charset="0"/>
              </a:rPr>
              <a:t>A Web Based Machine Learning System for Early Detection and Risk Prediction of Neonatal Sepsis in NICU</a:t>
            </a:r>
            <a:endParaRPr lang="en-IN" sz="4400" b="1" dirty="0">
              <a:latin typeface="Arial Narrow" panose="020B060602020203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4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7" y="3594414"/>
            <a:ext cx="27432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Ms.P.Karthika</a:t>
            </a:r>
            <a:endParaRPr lang="en-US"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CSE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Shanmathi S (811722104141)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Uma Maheswari K (811722104170)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Vedha Varshini V (811722104178)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736264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itchFamily="34" charset="0"/>
                <a:ea typeface="Arial Narrow"/>
                <a:cs typeface="Arial Narrow"/>
                <a:sym typeface="Arial Narrow"/>
              </a:rPr>
              <a:t>1. </a:t>
            </a:r>
            <a:r>
              <a:rPr lang="en-US" dirty="0">
                <a:latin typeface="Arial Narrow" pitchFamily="34" charset="0"/>
              </a:rPr>
              <a:t>To develop a system for early prediction of neonatal sepsis before culture confirmation.</a:t>
            </a:r>
            <a:endParaRPr lang="en-US" dirty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itchFamily="34" charset="0"/>
                <a:ea typeface="Arial Narrow"/>
                <a:cs typeface="Arial Narrow"/>
                <a:sym typeface="Arial Narrow"/>
              </a:rPr>
              <a:t>2. </a:t>
            </a:r>
            <a:r>
              <a:rPr lang="en-US" dirty="0">
                <a:latin typeface="Arial Narrow" pitchFamily="34" charset="0"/>
              </a:rPr>
              <a:t>To reduce delays caused by the 3–4 days blood culture diagnostic process.</a:t>
            </a:r>
            <a:endParaRPr lang="en-US" dirty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itchFamily="34" charset="0"/>
                <a:ea typeface="Arial Narrow"/>
                <a:cs typeface="Arial Narrow"/>
                <a:sym typeface="Arial Narrow"/>
              </a:rPr>
              <a:t>3. </a:t>
            </a:r>
            <a:r>
              <a:rPr lang="en-US" dirty="0">
                <a:latin typeface="Arial Narrow" pitchFamily="34" charset="0"/>
              </a:rPr>
              <a:t>To support timely antibiotic decision-making in high-risk newborns such as VLBW and premature infants.</a:t>
            </a:r>
            <a:endParaRPr lang="en-US" dirty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itchFamily="34" charset="0"/>
                <a:ea typeface="Arial Narrow"/>
                <a:cs typeface="Arial Narrow"/>
                <a:sym typeface="Arial Narrow"/>
              </a:rPr>
              <a:t>4. </a:t>
            </a:r>
            <a:r>
              <a:rPr lang="en-US" dirty="0">
                <a:latin typeface="Arial Narrow" pitchFamily="34" charset="0"/>
              </a:rPr>
              <a:t>To help decrease sepsis-related neonatal mortality, especially in high-burden countries like India.</a:t>
            </a:r>
            <a:endParaRPr lang="en-US" dirty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itchFamily="34" charset="0"/>
                <a:ea typeface="Arial Narrow"/>
                <a:cs typeface="Arial Narrow"/>
                <a:sym typeface="Arial Narrow"/>
              </a:rPr>
              <a:t>5. </a:t>
            </a:r>
            <a:r>
              <a:rPr lang="en-US" dirty="0">
                <a:latin typeface="Arial Narrow" pitchFamily="34" charset="0"/>
              </a:rPr>
              <a:t>To improve neonatal outcomes by assisting clinicians in early recognition and intervention.</a:t>
            </a:r>
            <a:endParaRPr lang="en-US" dirty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Neonatal sepsis causes 1.3 million cases globally every year, leading to more than 200,000 deaths, making it a critical public health concern in NICUs.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Blood culture confirmation requires 3–4 days, forcing clinicians to start empirical antibiotics without confirmed diagnosis in routine hospital practice.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Since the results take long time, the web-based model helps clinicians make quicker treatment decisions based on clinical data.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This project introduces a model that assists clinicians in early risk assessment during examination, enabling faster intervention and rational antibiotic use in daily NICU operations.</a:t>
            </a:r>
            <a:endParaRPr lang="en-US" dirty="0"/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 The web platform integrates smoothly into daily hospital workflow, making advanced machine learning accessible without requiring technical expertise.</a:t>
            </a: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860125931"/>
              </p:ext>
            </p:extLst>
          </p:nvPr>
        </p:nvGraphicFramePr>
        <p:xfrm>
          <a:off x="0" y="708000"/>
          <a:ext cx="12192001" cy="5935947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Predicting Sepsis Onset in ICU Using Machine Learning Models: A Systematic Review and Meta-Analysis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/>
                          <a:cs typeface="Calibri"/>
                          <a:sym typeface="Arial"/>
                        </a:rPr>
                        <a:t>Zhenyu Yang, Xiaoju Cui, Zhe Song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Arial Narrow"/>
                          <a:sym typeface="Arial"/>
                        </a:rPr>
                        <a:t>Reviews multiple machine learning models that analyze ICU patient data such as vital signs and laboratory results to predict sepsis early.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Random Forest, </a:t>
                      </a:r>
                      <a:r>
                        <a:rPr lang="en-US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XGBoost</a:t>
                      </a: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, Support Vector Machine, Neural Networks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Machine Learning and Deep Learning Models for Early Sepsis Prediction: A Scoping Review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Hemalatha Shanmugam, Lavanya Airen, Saumya Rawat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Arial Narrow"/>
                          <a:sym typeface="Arial"/>
                        </a:rPr>
                        <a:t>Explores deep learning and machine learning models that use electronic health records and clinical data for early sepsis prediction.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Logistic Regression, CNN, RNN, LSTM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Optimizing Sepsis Treatment Strategies via a Reinforcement Learning Model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Tianyi Zhang, </a:t>
                      </a:r>
                      <a:r>
                        <a:rPr lang="en-IN" sz="1800" u="none" strike="noStrike" cap="none" dirty="0" err="1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Yimeng</a:t>
                      </a: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Qu, Deyong Wang, Ming Zhong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Arial Narrow"/>
                          <a:sym typeface="Arial"/>
                        </a:rPr>
                        <a:t>Develops a reinforcement learning approach to optimize medication strategies and treatment decisions for sepsis patients.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Deep Reinforcement Learning (Dueling DDQN model)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Vital Sign-Based Detection of Sepsis in Neonates Using Machine Learning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Axel Honoré, Erik Persad, David Forsberg, Håkan Olsson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Arial Narrow"/>
                          <a:sym typeface="Arial"/>
                        </a:rPr>
                        <a:t>Uses machine learning techniques to analyze neonatal vital-sign data for early detection of sepsis.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Machine Learning – Naïve Bayes classifier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Applying Machine Learning to Blood Count Data for Prediction of Sepsis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Jonas W, Markus H, Daniel S, Michael B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Arial Narrow"/>
                          <a:sym typeface="Arial"/>
                        </a:rPr>
                        <a:t>Uses complete blood count (CBC) laboratory data with machine learning models to predict sepsis risk.</a:t>
                      </a:r>
                      <a:endParaRPr sz="1800" b="0" i="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Boosted Random Forest machine learning model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 descr="neonatal sepsis existing system.jpeg">
            <a:extLst>
              <a:ext uri="{FF2B5EF4-FFF2-40B4-BE49-F238E27FC236}">
                <a16:creationId xmlns:a16="http://schemas.microsoft.com/office/drawing/2014/main" id="{62F11A04-EAF3-66A6-630F-2C4906201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9424555" cy="544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9833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IDENTIFIED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02129" y="1290458"/>
            <a:ext cx="10787742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1. Early symptoms of infant sepsis are subtle and often detected only after the condition becomes critical.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2. Traditional hospital monitoring relies on manual observation of vital signs, which can lead to delayed diagnosis.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3. Continuous monitoring of multiple patients in NICU is difficult for healthcare staff, increasing the risk of missed warning signs.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4. Many existing sepsis prediction models act as black-box systems without clear clinical interpretability.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800" dirty="0">
                <a:latin typeface="Arial Narrow" panose="020B0606020202030204" pitchFamily="34" charset="0"/>
              </a:rPr>
              <a:t>5. Most current systems focus only on prediction accuracy and lack automated real-time alert mechanisms for caregivers.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" name="Picture 1" descr="ChatGPT Image Feb 11, 2026, 09_22_33 AM.png">
            <a:extLst>
              <a:ext uri="{FF2B5EF4-FFF2-40B4-BE49-F238E27FC236}">
                <a16:creationId xmlns:a16="http://schemas.microsoft.com/office/drawing/2014/main" id="{D31BE6E4-6A06-32DB-38A3-41B3E7293E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88" b="17121"/>
          <a:stretch>
            <a:fillRect/>
          </a:stretch>
        </p:blipFill>
        <p:spPr>
          <a:xfrm>
            <a:off x="1558412" y="844694"/>
            <a:ext cx="9075174" cy="5694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344596" y="1592826"/>
            <a:ext cx="5157900" cy="448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Processor: Intel Core i5 / AMD Ryzen 5 or higher (for ML model training).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RAM: 8 GB (16 GB recommended for faster model training).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Storage: At least 256 GB.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System Type: 64-bit system (required for ML libraries).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1634441"/>
            <a:ext cx="5183100" cy="440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9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sz="29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9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1. Operating System: Windows 10 / Linux / macOS (64-bit).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2. Programming Language: Python 3.8+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3. ML Libraries: Scikit-learn (Random Forest, SVM) </a:t>
            </a:r>
            <a:r>
              <a:rPr lang="en-US" sz="2900" dirty="0" err="1">
                <a:latin typeface="Arial Narrow"/>
                <a:ea typeface="Arial Narrow"/>
                <a:cs typeface="Arial Narrow"/>
                <a:sym typeface="Arial Narrow"/>
              </a:rPr>
              <a:t>XGBoostPandas</a:t>
            </a: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, NumPy (data handling).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4. Development Tools: </a:t>
            </a:r>
            <a:r>
              <a:rPr lang="en-US" sz="2900" dirty="0" err="1">
                <a:latin typeface="Arial Narrow"/>
                <a:ea typeface="Arial Narrow"/>
                <a:cs typeface="Arial Narrow"/>
                <a:sym typeface="Arial Narrow"/>
              </a:rPr>
              <a:t>Jupyter</a:t>
            </a: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 Notebook.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900" dirty="0">
                <a:latin typeface="Arial Narrow"/>
                <a:ea typeface="Arial Narrow"/>
                <a:cs typeface="Arial Narrow"/>
                <a:sym typeface="Arial Narrow"/>
              </a:rPr>
              <a:t> 5. Web Framework: Flask / Django (Python).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User Information Acquisition Module</a:t>
            </a:r>
            <a:endParaRPr dirty="0">
              <a:latin typeface="Arial Narrow" panose="020B0606020202030204" pitchFamily="34" charset="0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Patient Vital Parameters Input Module</a:t>
            </a:r>
            <a:endParaRPr dirty="0">
              <a:latin typeface="Arial Narrow" panose="020B0606020202030204" pitchFamily="34" charset="0"/>
            </a:endParaRPr>
          </a:p>
          <a:p>
            <a:pPr mar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3. Sepsis Risk Prediction Module  </a:t>
            </a:r>
            <a:endParaRPr dirty="0">
              <a:latin typeface="Arial Narrow" panose="020B0606020202030204" pitchFamily="34" charset="0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4. Automated Alert and Email Notification Module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5. Prediction Result Visualization Module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167149" y="1333336"/>
            <a:ext cx="6371302" cy="530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This module collects the basic details of the user such as name and email address through the system interface.</a:t>
            </a:r>
            <a:endParaRPr sz="2500" dirty="0">
              <a:latin typeface="Arial Narrow" panose="020B0606020202030204" pitchFamily="34" charset="0"/>
            </a:endParaRP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The entered information is stored temporarily in the system for identification and communication purposes.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3. The email ID is used as the primary channel for sending automated notifications and alerts.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4. The module ensures that valid user information is captured before proceeding to the next stage of the system.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5. This step establishes the connection between the caregiver and the monitoring system for future alerts.</a:t>
            </a:r>
            <a:endParaRPr sz="25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E7FB4-F0B4-70EA-7A7E-2459FFBFB0EE}"/>
              </a:ext>
            </a:extLst>
          </p:cNvPr>
          <p:cNvSpPr txBox="1"/>
          <p:nvPr/>
        </p:nvSpPr>
        <p:spPr>
          <a:xfrm>
            <a:off x="3116826" y="688258"/>
            <a:ext cx="5673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User Information Acquisition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1A142-2A7D-2483-9918-75EF62E69E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44"/>
          <a:stretch>
            <a:fillRect/>
          </a:stretch>
        </p:blipFill>
        <p:spPr>
          <a:xfrm>
            <a:off x="6636774" y="1595030"/>
            <a:ext cx="5486399" cy="3409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206477" y="1274341"/>
            <a:ext cx="6253317" cy="544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This module collects essential patient physiological parameters such as heart rate, body temperature, respiratory rate, and oxygen saturation.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The user enters these vital values through a web-based input interface.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3. The system validates the input values to ensure they fall within medically acceptable ranges.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4. Data preprocessing operations such as formatting and cleaning are performed to prepare the data for analysis.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5. The processed data is then forwarded to the machine learning prediction module.</a:t>
            </a:r>
          </a:p>
          <a:p>
            <a:pPr lvl="0" indent="-457200">
              <a:buClr>
                <a:srgbClr val="FF0000"/>
              </a:buClr>
              <a:buSzPts val="2800"/>
              <a:buAutoNum type="arabicPeriod"/>
            </a:pPr>
            <a:endParaRPr sz="25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C8335-86BE-A1B3-E6FB-B5C80A1CD362}"/>
              </a:ext>
            </a:extLst>
          </p:cNvPr>
          <p:cNvSpPr txBox="1"/>
          <p:nvPr/>
        </p:nvSpPr>
        <p:spPr>
          <a:xfrm>
            <a:off x="2762865" y="658761"/>
            <a:ext cx="665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 Narrow" panose="020B0606020202030204" pitchFamily="34" charset="0"/>
              </a:rPr>
              <a:t>Patient Vital Parameters Input Module</a:t>
            </a:r>
            <a:endParaRPr lang="en-IN" sz="2800" dirty="0">
              <a:latin typeface="Arial Narrow" panose="020B0606020202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4F1EDC-1F98-3E0E-7512-66D06EA1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59"/>
          <a:stretch>
            <a:fillRect/>
          </a:stretch>
        </p:blipFill>
        <p:spPr>
          <a:xfrm>
            <a:off x="6535993" y="1660575"/>
            <a:ext cx="5545394" cy="33145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255640" y="1470577"/>
            <a:ext cx="6186014" cy="515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This module uses a trained Random Forest machine learning model to analyze the processed patient vitals.</a:t>
            </a:r>
            <a:endParaRPr sz="2500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The algorithm compares the input parameters with patterns learned from historical medical datasets.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3. Multiple decision trees within the Random Forest classifier evaluate the probability of sepsis risk.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4. Based on the analysis, the model classifies the patient condition as either normal or at risk of sepsis.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5. The generated prediction result is then passed to the alert and visualization modules.</a:t>
            </a:r>
            <a:endParaRPr sz="2500"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-9832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7AEC8-9123-3A3A-FB24-CABAD83752E9}"/>
              </a:ext>
            </a:extLst>
          </p:cNvPr>
          <p:cNvSpPr txBox="1"/>
          <p:nvPr/>
        </p:nvSpPr>
        <p:spPr>
          <a:xfrm>
            <a:off x="2762865" y="681037"/>
            <a:ext cx="6666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 Narrow" panose="020B0606020202030204" pitchFamily="34" charset="0"/>
              </a:rPr>
              <a:t>Sepsis Risk Prediction Module</a:t>
            </a:r>
            <a:endParaRPr lang="en-IN" sz="2800" dirty="0"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6277D-ED52-40AC-1CB4-62ECDAA7A6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29"/>
          <a:stretch>
            <a:fillRect/>
          </a:stretch>
        </p:blipFill>
        <p:spPr>
          <a:xfrm>
            <a:off x="6518787" y="1760970"/>
            <a:ext cx="5584723" cy="33360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304799" y="1673066"/>
            <a:ext cx="7138220" cy="557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This module activates when the prediction model detects a potential risk of sepsis.</a:t>
            </a:r>
            <a:endParaRPr lang="en-US" sz="2500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It automatically generates a warning alert to indicate a possible medical emergency.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3. The system sends a caution email notification to the registered guardian or caregiver.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4. The alert message informs the caregiver about the potential risk and recommends immediate medical attention.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5. This module ensures timely communication and faster response to critical health conditions.</a:t>
            </a:r>
            <a:endParaRPr lang="en-US" sz="2500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1FB53-E8F6-5083-22A5-B305CC1C0B22}"/>
              </a:ext>
            </a:extLst>
          </p:cNvPr>
          <p:cNvSpPr txBox="1"/>
          <p:nvPr/>
        </p:nvSpPr>
        <p:spPr>
          <a:xfrm>
            <a:off x="2748116" y="718959"/>
            <a:ext cx="6695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 Narrow" panose="020B0606020202030204" pitchFamily="34" charset="0"/>
              </a:rPr>
              <a:t>Automated Alert and Email Notification Module</a:t>
            </a:r>
            <a:endParaRPr lang="en-IN" sz="2800" dirty="0">
              <a:latin typeface="Arial Narrow" panose="020B0606020202030204" pitchFamily="34" charset="0"/>
            </a:endParaRPr>
          </a:p>
          <a:p>
            <a:pPr algn="ctr"/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1F29E-FF72-20BD-3F0C-663A0101B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968" y="1196012"/>
            <a:ext cx="3335593" cy="51799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186814" y="1582994"/>
            <a:ext cx="6331974" cy="505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This module displays the prediction results clearly on the system interface.</a:t>
            </a:r>
            <a:endParaRPr lang="en-US" sz="2500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The output indicates whether the patient is in a normal condition or at risk of sepsis.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3. The results are presented in an easy-to-understand format for caregivers and healthcare professionals.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4. The interface allows users to quickly review the entered patient parameters and prediction outcome.</a:t>
            </a:r>
          </a:p>
          <a:p>
            <a:pPr marL="0" lvl="0" indent="0">
              <a:buSzPts val="2800"/>
              <a:buNone/>
            </a:pPr>
            <a:r>
              <a:rPr lang="en-US" sz="2500" dirty="0">
                <a:latin typeface="Arial Narrow" panose="020B0606020202030204" pitchFamily="34" charset="0"/>
                <a:cs typeface="Times New Roman"/>
                <a:sym typeface="Times New Roman"/>
              </a:rPr>
              <a:t>5. This module helps users make informed decisions regarding further medical evaluation or treatment.</a:t>
            </a:r>
            <a:endParaRPr lang="en-US" sz="2500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7DD53-948B-3604-5543-EA945AF27247}"/>
              </a:ext>
            </a:extLst>
          </p:cNvPr>
          <p:cNvSpPr txBox="1"/>
          <p:nvPr/>
        </p:nvSpPr>
        <p:spPr>
          <a:xfrm>
            <a:off x="2743200" y="771453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Prediction Result Visualization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DC39D-BFBE-20FE-FA1F-EEADE368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97"/>
          <a:stretch>
            <a:fillRect/>
          </a:stretch>
        </p:blipFill>
        <p:spPr>
          <a:xfrm>
            <a:off x="6518788" y="1745608"/>
            <a:ext cx="5525729" cy="35293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56998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This project provides a real-time web-based decision support system that helps clinicians instantly assess neonatal sepsis risk at the bedside.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The website allows quick input of clinical parameters and generates immediate predictions, reducing delays in critical decision-making.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By delivering timely risk alerts, the system supports early initiation or withholding of antibiotics, improving treatment accuracy.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The web-based platform ensures easy accessibility across NICU systems without the need for complex software installations.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5. Overall, the project enhances quality of neonatal care by enabling faster responses, better resource utilization, and improved patient outcomes.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9948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1. Integrate real-time data streaming from NICU monitoring devices and IoT sensors for continuous infant health monitoring.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2. Expand the system to support multi-hospital datasets to improve model accuracy and generalization.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cs typeface="Times New Roman"/>
                <a:sym typeface="Times New Roman"/>
              </a:rPr>
              <a:t>3. Develop a mobile application for doctors and caregivers to receive alerts and monitor patient status remotely.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cs typeface="Times New Roman"/>
                <a:sym typeface="Times New Roman"/>
              </a:rPr>
              <a:t>4. Incorporate advanced deep learning models and medical imaging analysis to enhance prediction performance.</a:t>
            </a:r>
          </a:p>
          <a:p>
            <a:pPr marL="0" lvl="0" indent="0">
              <a:buSzPts val="2800"/>
              <a:buNone/>
            </a:pPr>
            <a:r>
              <a:rPr lang="en-US" dirty="0">
                <a:latin typeface="Arial Narrow" panose="020B0606020202030204" pitchFamily="34" charset="0"/>
                <a:cs typeface="Times New Roman"/>
                <a:sym typeface="Times New Roman"/>
              </a:rPr>
              <a:t>5. Conduct real-world clinical validation with neonatologists to ensure reliability and practical deployment in hospitals.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1482</Words>
  <Application>Microsoft Office PowerPoint</Application>
  <PresentationFormat>Widescreen</PresentationFormat>
  <Paragraphs>145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Narrow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MODULE-1</vt:lpstr>
      <vt:lpstr>MODULE-2</vt:lpstr>
      <vt:lpstr>MODULE-3</vt:lpstr>
      <vt:lpstr>MODULE-4</vt:lpstr>
      <vt:lpstr>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Vedha Varshini V</cp:lastModifiedBy>
  <cp:revision>8</cp:revision>
  <dcterms:modified xsi:type="dcterms:W3CDTF">2026-03-28T09:51:24Z</dcterms:modified>
</cp:coreProperties>
</file>